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Open Sauce" panose="020B0604020202020204" charset="0"/>
      <p:regular r:id="rId17"/>
    </p:embeddedFont>
    <p:embeddedFont>
      <p:font typeface="Times New Roman Bold" panose="02020803070505020304" pitchFamily="18" charset="0"/>
      <p:regular r:id="rId18"/>
      <p:bold r:id="rId19"/>
    </p:embeddedFont>
    <p:embeddedFont>
      <p:font typeface="Trebuchet MS" panose="020B0603020202020204" pitchFamily="34"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8" d="100"/>
          <a:sy n="58" d="100"/>
        </p:scale>
        <p:origin x="51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1519183" y="1501429"/>
            <a:ext cx="8429515" cy="2077499"/>
          </a:xfrm>
          <a:prstGeom prst="rect">
            <a:avLst/>
          </a:prstGeom>
        </p:spPr>
        <p:txBody>
          <a:bodyPr lIns="0" tIns="0" rIns="0" bIns="0" rtlCol="0" anchor="t">
            <a:spAutoFit/>
          </a:bodyPr>
          <a:lstStyle/>
          <a:p>
            <a:pPr algn="ctr">
              <a:lnSpc>
                <a:spcPts val="8070"/>
              </a:lnSpc>
            </a:pPr>
            <a:r>
              <a:rPr lang="en-US" sz="6725">
                <a:solidFill>
                  <a:srgbClr val="FFFFFF"/>
                </a:solidFill>
                <a:latin typeface="Times New Roman"/>
                <a:ea typeface="Times New Roman"/>
                <a:cs typeface="Times New Roman"/>
                <a:sym typeface="Times New Roman"/>
              </a:rPr>
              <a:t>LAPTOP SALES DATA</a:t>
            </a:r>
          </a:p>
          <a:p>
            <a:pPr algn="ctr">
              <a:lnSpc>
                <a:spcPts val="8070"/>
              </a:lnSpc>
              <a:spcBef>
                <a:spcPct val="0"/>
              </a:spcBef>
            </a:pPr>
            <a:r>
              <a:rPr lang="en-US" sz="6725">
                <a:solidFill>
                  <a:srgbClr val="FFFFFF"/>
                </a:solidFill>
                <a:latin typeface="Times New Roman"/>
                <a:ea typeface="Times New Roman"/>
                <a:cs typeface="Times New Roman"/>
                <a:sym typeface="Times New Roman"/>
              </a:rPr>
              <a:t>ANALYSIS</a:t>
            </a:r>
          </a:p>
        </p:txBody>
      </p:sp>
      <p:sp>
        <p:nvSpPr>
          <p:cNvPr id="4" name="TextBox 4"/>
          <p:cNvSpPr txBox="1"/>
          <p:nvPr/>
        </p:nvSpPr>
        <p:spPr>
          <a:xfrm>
            <a:off x="12329160" y="6796797"/>
            <a:ext cx="4930140" cy="1514475"/>
          </a:xfrm>
          <a:prstGeom prst="rect">
            <a:avLst/>
          </a:prstGeom>
        </p:spPr>
        <p:txBody>
          <a:bodyPr lIns="0" tIns="0" rIns="0" bIns="0" rtlCol="0" anchor="t">
            <a:spAutoFit/>
          </a:bodyPr>
          <a:lstStyle/>
          <a:p>
            <a:pPr algn="ctr">
              <a:lnSpc>
                <a:spcPts val="5880"/>
              </a:lnSpc>
            </a:pPr>
            <a:r>
              <a:rPr lang="en-US" sz="4900">
                <a:solidFill>
                  <a:srgbClr val="FFFFFF"/>
                </a:solidFill>
                <a:latin typeface="Times New Roman"/>
                <a:ea typeface="Times New Roman"/>
                <a:cs typeface="Times New Roman"/>
                <a:sym typeface="Times New Roman"/>
              </a:rPr>
              <a:t>PRESENTED BY:</a:t>
            </a:r>
          </a:p>
          <a:p>
            <a:pPr algn="ctr">
              <a:lnSpc>
                <a:spcPts val="5880"/>
              </a:lnSpc>
              <a:spcBef>
                <a:spcPct val="0"/>
              </a:spcBef>
            </a:pPr>
            <a:r>
              <a:rPr lang="en-US" sz="4900">
                <a:solidFill>
                  <a:srgbClr val="FFFFFF"/>
                </a:solidFill>
                <a:latin typeface="Times New Roman"/>
                <a:ea typeface="Times New Roman"/>
                <a:cs typeface="Times New Roman"/>
                <a:sym typeface="Times New Roman"/>
              </a:rPr>
              <a:t>ARUNKUMAR  A </a:t>
            </a:r>
          </a:p>
        </p:txBody>
      </p:sp>
      <p:grpSp>
        <p:nvGrpSpPr>
          <p:cNvPr id="5" name="Group 5"/>
          <p:cNvGrpSpPr>
            <a:grpSpLocks noChangeAspect="1"/>
          </p:cNvGrpSpPr>
          <p:nvPr/>
        </p:nvGrpSpPr>
        <p:grpSpPr>
          <a:xfrm>
            <a:off x="11783253" y="558483"/>
            <a:ext cx="5656984" cy="5656984"/>
            <a:chOff x="0" y="0"/>
            <a:chExt cx="14840029" cy="14840029"/>
          </a:xfrm>
        </p:grpSpPr>
        <p:sp>
          <p:nvSpPr>
            <p:cNvPr id="6" name="Freeform 6"/>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547692"/>
            </a:solidFill>
          </p:spPr>
        </p:sp>
        <p:sp>
          <p:nvSpPr>
            <p:cNvPr id="7" name="Freeform 7"/>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id="8" name="Freeform 8"/>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38689" r="-38689"/>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4334458" y="207802"/>
            <a:ext cx="9052468" cy="1056211"/>
          </a:xfrm>
          <a:prstGeom prst="rect">
            <a:avLst/>
          </a:prstGeom>
        </p:spPr>
        <p:txBody>
          <a:bodyPr lIns="0" tIns="0" rIns="0" bIns="0" rtlCol="0" anchor="t">
            <a:spAutoFit/>
          </a:bodyPr>
          <a:lstStyle/>
          <a:p>
            <a:pPr marL="0" lvl="0" indent="0" algn="ctr">
              <a:lnSpc>
                <a:spcPts val="8458"/>
              </a:lnSpc>
              <a:spcBef>
                <a:spcPct val="0"/>
              </a:spcBef>
            </a:pPr>
            <a:r>
              <a:rPr lang="en-US" sz="6041" spc="-283">
                <a:solidFill>
                  <a:srgbClr val="FFFFFF"/>
                </a:solidFill>
                <a:latin typeface="Times New Roman"/>
                <a:ea typeface="Times New Roman"/>
                <a:cs typeface="Times New Roman"/>
                <a:sym typeface="Times New Roman"/>
              </a:rPr>
              <a:t>INTRODUCTION</a:t>
            </a:r>
          </a:p>
        </p:txBody>
      </p:sp>
      <p:sp>
        <p:nvSpPr>
          <p:cNvPr id="4" name="TextBox 4"/>
          <p:cNvSpPr txBox="1"/>
          <p:nvPr/>
        </p:nvSpPr>
        <p:spPr>
          <a:xfrm>
            <a:off x="3512298" y="2345708"/>
            <a:ext cx="10998315" cy="4229100"/>
          </a:xfrm>
          <a:prstGeom prst="rect">
            <a:avLst/>
          </a:prstGeom>
        </p:spPr>
        <p:txBody>
          <a:bodyPr lIns="0" tIns="0" rIns="0" bIns="0" rtlCol="0" anchor="t">
            <a:spAutoFit/>
          </a:bodyPr>
          <a:lstStyle/>
          <a:p>
            <a:pPr marL="563677" lvl="1" indent="-281838" algn="just">
              <a:lnSpc>
                <a:spcPts val="3737"/>
              </a:lnSpc>
              <a:buFont typeface="Arial"/>
              <a:buChar char="•"/>
            </a:pPr>
            <a:r>
              <a:rPr lang="en-US" sz="3114">
                <a:solidFill>
                  <a:srgbClr val="FFFFFF"/>
                </a:solidFill>
                <a:latin typeface="Times New Roman"/>
                <a:ea typeface="Times New Roman"/>
                <a:cs typeface="Times New Roman"/>
                <a:sym typeface="Times New Roman"/>
              </a:rPr>
              <a:t>This project focuses on the analysis of laptop sales data to understand market trends, customer preferences, and sales performance across different brands and specifications </a:t>
            </a:r>
          </a:p>
          <a:p>
            <a:pPr marL="563677" lvl="1" indent="-281838" algn="just">
              <a:lnSpc>
                <a:spcPts val="3737"/>
              </a:lnSpc>
            </a:pPr>
            <a:endParaRPr lang="en-US" sz="3114">
              <a:solidFill>
                <a:srgbClr val="FFFFFF"/>
              </a:solidFill>
              <a:latin typeface="Times New Roman"/>
              <a:ea typeface="Times New Roman"/>
              <a:cs typeface="Times New Roman"/>
              <a:sym typeface="Times New Roman"/>
            </a:endParaRPr>
          </a:p>
          <a:p>
            <a:pPr marL="563677" lvl="1" indent="-281838" algn="just">
              <a:lnSpc>
                <a:spcPts val="3737"/>
              </a:lnSpc>
              <a:buFont typeface="Arial"/>
              <a:buChar char="•"/>
            </a:pPr>
            <a:r>
              <a:rPr lang="en-US" sz="3114">
                <a:solidFill>
                  <a:srgbClr val="FFFFFF"/>
                </a:solidFill>
                <a:latin typeface="Times New Roman"/>
                <a:ea typeface="Times New Roman"/>
                <a:cs typeface="Times New Roman"/>
                <a:sym typeface="Times New Roman"/>
              </a:rPr>
              <a:t>Customers facing difficulty to choosing the right laptop due to the overwhelming options, while manufactures and retailers struggle to optimize pricing and features to remain competitive.</a:t>
            </a:r>
          </a:p>
          <a:p>
            <a:pPr marL="563677" lvl="1" indent="-281838" algn="just">
              <a:lnSpc>
                <a:spcPts val="3737"/>
              </a:lnSpc>
            </a:pPr>
            <a:endParaRPr lang="en-US" sz="3114">
              <a:solidFill>
                <a:srgbClr val="FFFFFF"/>
              </a:solidFill>
              <a:latin typeface="Times New Roman"/>
              <a:ea typeface="Times New Roman"/>
              <a:cs typeface="Times New Roman"/>
              <a:sym typeface="Times New Roman"/>
            </a:endParaRPr>
          </a:p>
          <a:p>
            <a:pPr marL="563677" lvl="1" indent="-281838" algn="just">
              <a:lnSpc>
                <a:spcPts val="3737"/>
              </a:lnSpc>
            </a:pPr>
            <a:endParaRPr lang="en-US" sz="3114">
              <a:solidFill>
                <a:srgbClr val="FFFFFF"/>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8496029" y="8835324"/>
            <a:ext cx="1274721" cy="422976"/>
          </a:xfrm>
          <a:prstGeom prst="rect">
            <a:avLst/>
          </a:prstGeom>
        </p:spPr>
        <p:txBody>
          <a:bodyPr lIns="0" tIns="0" rIns="0" bIns="0" rtlCol="0" anchor="t">
            <a:spAutoFit/>
          </a:bodyPr>
          <a:lstStyle/>
          <a:p>
            <a:pPr algn="ctr">
              <a:lnSpc>
                <a:spcPts val="3461"/>
              </a:lnSpc>
            </a:pPr>
            <a:r>
              <a:rPr lang="en-US" sz="2472">
                <a:solidFill>
                  <a:srgbClr val="FFFFFF"/>
                </a:solidFill>
                <a:latin typeface="Open Sauce"/>
                <a:ea typeface="Open Sauce"/>
                <a:cs typeface="Open Sauce"/>
                <a:sym typeface="Open Sauce"/>
              </a:rPr>
              <a:t>-</a:t>
            </a:r>
          </a:p>
        </p:txBody>
      </p:sp>
      <p:sp>
        <p:nvSpPr>
          <p:cNvPr id="4" name="TextBox 4"/>
          <p:cNvSpPr txBox="1"/>
          <p:nvPr/>
        </p:nvSpPr>
        <p:spPr>
          <a:xfrm>
            <a:off x="5532940" y="180975"/>
            <a:ext cx="7200900" cy="847725"/>
          </a:xfrm>
          <a:prstGeom prst="rect">
            <a:avLst/>
          </a:prstGeom>
        </p:spPr>
        <p:txBody>
          <a:bodyPr lIns="0" tIns="0" rIns="0" bIns="0" rtlCol="0" anchor="t">
            <a:spAutoFit/>
          </a:bodyPr>
          <a:lstStyle/>
          <a:p>
            <a:pPr algn="ctr">
              <a:lnSpc>
                <a:spcPts val="6480"/>
              </a:lnSpc>
              <a:spcBef>
                <a:spcPct val="0"/>
              </a:spcBef>
            </a:pPr>
            <a:r>
              <a:rPr lang="en-US" sz="5400">
                <a:solidFill>
                  <a:srgbClr val="FFFFFF"/>
                </a:solidFill>
                <a:latin typeface="Times New Roman"/>
                <a:ea typeface="Times New Roman"/>
                <a:cs typeface="Times New Roman"/>
                <a:sym typeface="Times New Roman"/>
              </a:rPr>
              <a:t>DATA UNDERSTANING</a:t>
            </a:r>
          </a:p>
        </p:txBody>
      </p:sp>
      <p:sp>
        <p:nvSpPr>
          <p:cNvPr id="5" name="TextBox 5"/>
          <p:cNvSpPr txBox="1"/>
          <p:nvPr/>
        </p:nvSpPr>
        <p:spPr>
          <a:xfrm>
            <a:off x="3109033" y="2165961"/>
            <a:ext cx="12069935" cy="2114550"/>
          </a:xfrm>
          <a:prstGeom prst="rect">
            <a:avLst/>
          </a:prstGeom>
        </p:spPr>
        <p:txBody>
          <a:bodyPr lIns="0" tIns="0" rIns="0" bIns="0" rtlCol="0" anchor="t">
            <a:spAutoFit/>
          </a:bodyPr>
          <a:lstStyle/>
          <a:p>
            <a:pPr marL="502206" lvl="1" indent="-251103" algn="l">
              <a:lnSpc>
                <a:spcPts val="3329"/>
              </a:lnSpc>
              <a:buFont typeface="Arial"/>
              <a:buChar char="•"/>
            </a:pPr>
            <a:r>
              <a:rPr lang="en-US" sz="2775">
                <a:solidFill>
                  <a:srgbClr val="FFFFFF"/>
                </a:solidFill>
                <a:latin typeface="Times New Roman"/>
                <a:ea typeface="Times New Roman"/>
                <a:cs typeface="Times New Roman"/>
                <a:sym typeface="Times New Roman"/>
              </a:rPr>
              <a:t>DATA DIMENSIONS – 1303 ROWS &amp; 12 COLUMNS </a:t>
            </a:r>
          </a:p>
          <a:p>
            <a:pPr marL="502206" lvl="1" indent="-251103" algn="l">
              <a:lnSpc>
                <a:spcPts val="3329"/>
              </a:lnSpc>
              <a:buFont typeface="Arial"/>
              <a:buChar char="•"/>
            </a:pPr>
            <a:r>
              <a:rPr lang="en-US" sz="2775">
                <a:solidFill>
                  <a:srgbClr val="FFFFFF"/>
                </a:solidFill>
                <a:latin typeface="Times New Roman"/>
                <a:ea typeface="Times New Roman"/>
                <a:cs typeface="Times New Roman"/>
                <a:sym typeface="Times New Roman"/>
              </a:rPr>
              <a:t>Checking Datatypes , proper formatting, Relevant columns for analysis.</a:t>
            </a:r>
          </a:p>
          <a:p>
            <a:pPr marL="502206" lvl="1" indent="-251103" algn="l">
              <a:lnSpc>
                <a:spcPts val="3329"/>
              </a:lnSpc>
            </a:pPr>
            <a:endParaRPr lang="en-US" sz="2775">
              <a:solidFill>
                <a:srgbClr val="FFFFFF"/>
              </a:solidFill>
              <a:latin typeface="Times New Roman"/>
              <a:ea typeface="Times New Roman"/>
              <a:cs typeface="Times New Roman"/>
              <a:sym typeface="Times New Roman"/>
            </a:endParaRPr>
          </a:p>
          <a:p>
            <a:pPr marL="502206" lvl="1" indent="-251103" algn="l">
              <a:lnSpc>
                <a:spcPts val="3329"/>
              </a:lnSpc>
            </a:pPr>
            <a:endParaRPr lang="en-US" sz="2775">
              <a:solidFill>
                <a:srgbClr val="FFFFFF"/>
              </a:solidFill>
              <a:latin typeface="Times New Roman"/>
              <a:ea typeface="Times New Roman"/>
              <a:cs typeface="Times New Roman"/>
              <a:sym typeface="Times New Roman"/>
            </a:endParaRPr>
          </a:p>
          <a:p>
            <a:pPr marL="502206" lvl="1" indent="-251103" algn="l">
              <a:lnSpc>
                <a:spcPts val="3329"/>
              </a:lnSpc>
            </a:pPr>
            <a:endParaRPr lang="en-US" sz="2775">
              <a:solidFill>
                <a:srgbClr val="FFFFFF"/>
              </a:solidFill>
              <a:latin typeface="Times New Roman"/>
              <a:ea typeface="Times New Roman"/>
              <a:cs typeface="Times New Roman"/>
              <a:sym typeface="Times New Roman"/>
            </a:endParaRPr>
          </a:p>
        </p:txBody>
      </p:sp>
      <p:grpSp>
        <p:nvGrpSpPr>
          <p:cNvPr id="6" name="Group 6"/>
          <p:cNvGrpSpPr>
            <a:grpSpLocks noChangeAspect="1"/>
          </p:cNvGrpSpPr>
          <p:nvPr/>
        </p:nvGrpSpPr>
        <p:grpSpPr>
          <a:xfrm>
            <a:off x="3247522" y="4008462"/>
            <a:ext cx="9781042" cy="4874487"/>
            <a:chOff x="0" y="0"/>
            <a:chExt cx="12337288" cy="6148420"/>
          </a:xfrm>
        </p:grpSpPr>
        <p:sp>
          <p:nvSpPr>
            <p:cNvPr id="7" name="Freeform 7"/>
            <p:cNvSpPr/>
            <p:nvPr/>
          </p:nvSpPr>
          <p:spPr>
            <a:xfrm>
              <a:off x="0" y="0"/>
              <a:ext cx="12337288" cy="6148451"/>
            </a:xfrm>
            <a:custGeom>
              <a:avLst/>
              <a:gdLst/>
              <a:ahLst/>
              <a:cxnLst/>
              <a:rect l="l" t="t" r="r" b="b"/>
              <a:pathLst>
                <a:path w="12337288" h="6148451">
                  <a:moveTo>
                    <a:pt x="0" y="0"/>
                  </a:moveTo>
                  <a:lnTo>
                    <a:pt x="12337288" y="0"/>
                  </a:lnTo>
                  <a:lnTo>
                    <a:pt x="12337288" y="6148451"/>
                  </a:lnTo>
                  <a:lnTo>
                    <a:pt x="0" y="6148451"/>
                  </a:lnTo>
                  <a:lnTo>
                    <a:pt x="0" y="0"/>
                  </a:lnTo>
                  <a:close/>
                </a:path>
              </a:pathLst>
            </a:custGeom>
            <a:blipFill>
              <a:blip r:embed="rId4"/>
              <a:stretch>
                <a:fillRect t="-9835" b="-9835"/>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2787939" y="366918"/>
            <a:ext cx="12712122" cy="847725"/>
          </a:xfrm>
          <a:prstGeom prst="rect">
            <a:avLst/>
          </a:prstGeom>
        </p:spPr>
        <p:txBody>
          <a:bodyPr lIns="0" tIns="0" rIns="0" bIns="0" rtlCol="0" anchor="t">
            <a:spAutoFit/>
          </a:bodyPr>
          <a:lstStyle/>
          <a:p>
            <a:pPr algn="ctr">
              <a:lnSpc>
                <a:spcPts val="6480"/>
              </a:lnSpc>
            </a:pPr>
            <a:r>
              <a:rPr lang="en-US" sz="5400">
                <a:solidFill>
                  <a:srgbClr val="FFFFFF"/>
                </a:solidFill>
                <a:latin typeface="Times New Roman"/>
                <a:ea typeface="Times New Roman"/>
                <a:cs typeface="Times New Roman"/>
                <a:sym typeface="Times New Roman"/>
              </a:rPr>
              <a:t>DATA CLEANING</a:t>
            </a:r>
          </a:p>
        </p:txBody>
      </p:sp>
      <p:sp>
        <p:nvSpPr>
          <p:cNvPr id="4" name="TextBox 4"/>
          <p:cNvSpPr txBox="1"/>
          <p:nvPr/>
        </p:nvSpPr>
        <p:spPr>
          <a:xfrm>
            <a:off x="2392146" y="2540035"/>
            <a:ext cx="14081539" cy="3829050"/>
          </a:xfrm>
          <a:prstGeom prst="rect">
            <a:avLst/>
          </a:prstGeom>
        </p:spPr>
        <p:txBody>
          <a:bodyPr lIns="0" tIns="0" rIns="0" bIns="0" rtlCol="0" anchor="t">
            <a:spAutoFit/>
          </a:bodyPr>
          <a:lstStyle/>
          <a:p>
            <a:pPr marL="570806" lvl="1" indent="-285403" algn="l">
              <a:lnSpc>
                <a:spcPts val="3784"/>
              </a:lnSpc>
              <a:buFont typeface="Arial"/>
              <a:buChar char="•"/>
            </a:pPr>
            <a:r>
              <a:rPr lang="en-US" sz="3154">
                <a:solidFill>
                  <a:srgbClr val="FFFFFF"/>
                </a:solidFill>
                <a:latin typeface="Times New Roman"/>
                <a:ea typeface="Times New Roman"/>
                <a:cs typeface="Times New Roman"/>
                <a:sym typeface="Times New Roman"/>
              </a:rPr>
              <a:t>Fixing Rows and Columns</a:t>
            </a:r>
          </a:p>
          <a:p>
            <a:pPr marL="570806" lvl="1" indent="-285403" algn="l">
              <a:lnSpc>
                <a:spcPts val="3784"/>
              </a:lnSpc>
              <a:buFont typeface="Arial"/>
              <a:buChar char="•"/>
            </a:pPr>
            <a:r>
              <a:rPr lang="en-US" sz="3154">
                <a:solidFill>
                  <a:srgbClr val="FFFFFF"/>
                </a:solidFill>
                <a:latin typeface="Times New Roman"/>
                <a:ea typeface="Times New Roman"/>
                <a:cs typeface="Times New Roman"/>
                <a:sym typeface="Times New Roman"/>
              </a:rPr>
              <a:t>Check missing values</a:t>
            </a:r>
          </a:p>
          <a:p>
            <a:pPr marL="570806" lvl="1" indent="-285403" algn="l">
              <a:lnSpc>
                <a:spcPts val="3784"/>
              </a:lnSpc>
              <a:buFont typeface="Arial"/>
              <a:buChar char="•"/>
            </a:pPr>
            <a:r>
              <a:rPr lang="en-US" sz="3154">
                <a:solidFill>
                  <a:srgbClr val="FFFFFF"/>
                </a:solidFill>
                <a:latin typeface="Times New Roman"/>
                <a:ea typeface="Times New Roman"/>
                <a:cs typeface="Times New Roman"/>
                <a:sym typeface="Times New Roman"/>
              </a:rPr>
              <a:t>Check outliers</a:t>
            </a:r>
          </a:p>
          <a:p>
            <a:pPr marL="570806" lvl="1" indent="-285403" algn="l">
              <a:lnSpc>
                <a:spcPts val="3784"/>
              </a:lnSpc>
              <a:buFont typeface="Arial"/>
              <a:buChar char="•"/>
            </a:pPr>
            <a:r>
              <a:rPr lang="en-US" sz="3154">
                <a:solidFill>
                  <a:srgbClr val="FFFFFF"/>
                </a:solidFill>
                <a:latin typeface="Times New Roman"/>
                <a:ea typeface="Times New Roman"/>
                <a:cs typeface="Times New Roman"/>
                <a:sym typeface="Times New Roman"/>
              </a:rPr>
              <a:t>Fix outliers </a:t>
            </a:r>
          </a:p>
          <a:p>
            <a:pPr marL="570806" lvl="1" indent="-285403" algn="l">
              <a:lnSpc>
                <a:spcPts val="3784"/>
              </a:lnSpc>
              <a:buFont typeface="Arial"/>
              <a:buChar char="•"/>
            </a:pPr>
            <a:r>
              <a:rPr lang="en-US" sz="3154">
                <a:solidFill>
                  <a:srgbClr val="FFFFFF"/>
                </a:solidFill>
                <a:latin typeface="Times New Roman"/>
                <a:ea typeface="Times New Roman"/>
                <a:cs typeface="Times New Roman"/>
                <a:sym typeface="Times New Roman"/>
              </a:rPr>
              <a:t>Dropped column ‘Unnamed: 0’.</a:t>
            </a:r>
          </a:p>
          <a:p>
            <a:pPr marL="570806" lvl="1" indent="-285403" algn="l">
              <a:lnSpc>
                <a:spcPts val="3784"/>
              </a:lnSpc>
              <a:buFont typeface="Arial"/>
              <a:buChar char="•"/>
            </a:pPr>
            <a:r>
              <a:rPr lang="en-US" sz="3154">
                <a:solidFill>
                  <a:srgbClr val="FFFFFF"/>
                </a:solidFill>
                <a:latin typeface="Times New Roman"/>
                <a:ea typeface="Times New Roman"/>
                <a:cs typeface="Times New Roman"/>
                <a:sym typeface="Times New Roman"/>
              </a:rPr>
              <a:t>Check the unique values in columns (Inches, Ram, Weight, Price)</a:t>
            </a:r>
          </a:p>
          <a:p>
            <a:pPr marL="570806" lvl="1" indent="-285403" algn="l">
              <a:lnSpc>
                <a:spcPts val="3784"/>
              </a:lnSpc>
              <a:buFont typeface="Arial"/>
              <a:buChar char="•"/>
            </a:pPr>
            <a:r>
              <a:rPr lang="en-US" sz="3154">
                <a:solidFill>
                  <a:srgbClr val="FFFFFF"/>
                </a:solidFill>
                <a:latin typeface="Times New Roman"/>
                <a:ea typeface="Times New Roman"/>
                <a:cs typeface="Times New Roman"/>
                <a:sym typeface="Times New Roman"/>
              </a:rPr>
              <a:t>Numerical columns fill with median</a:t>
            </a:r>
          </a:p>
          <a:p>
            <a:pPr marL="570806" lvl="1" indent="-285403" algn="l">
              <a:lnSpc>
                <a:spcPts val="3784"/>
              </a:lnSpc>
              <a:buFont typeface="Arial"/>
              <a:buChar char="•"/>
            </a:pPr>
            <a:r>
              <a:rPr lang="en-US" sz="3154">
                <a:solidFill>
                  <a:srgbClr val="FFFFFF"/>
                </a:solidFill>
                <a:latin typeface="Times New Roman"/>
                <a:ea typeface="Times New Roman"/>
                <a:cs typeface="Times New Roman"/>
                <a:sym typeface="Times New Roman"/>
              </a:rPr>
              <a:t>Categorical columns fill with mode.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3029819" y="230715"/>
            <a:ext cx="12228362" cy="847725"/>
          </a:xfrm>
          <a:prstGeom prst="rect">
            <a:avLst/>
          </a:prstGeom>
        </p:spPr>
        <p:txBody>
          <a:bodyPr lIns="0" tIns="0" rIns="0" bIns="0" rtlCol="0" anchor="t">
            <a:spAutoFit/>
          </a:bodyPr>
          <a:lstStyle/>
          <a:p>
            <a:pPr algn="ctr">
              <a:lnSpc>
                <a:spcPts val="6480"/>
              </a:lnSpc>
            </a:pPr>
            <a:r>
              <a:rPr lang="en-US" sz="5400">
                <a:solidFill>
                  <a:srgbClr val="FFFFFF"/>
                </a:solidFill>
                <a:latin typeface="Times New Roman"/>
                <a:ea typeface="Times New Roman"/>
                <a:cs typeface="Times New Roman"/>
                <a:sym typeface="Times New Roman"/>
              </a:rPr>
              <a:t>CHECK MISSING VALUES</a:t>
            </a:r>
          </a:p>
        </p:txBody>
      </p:sp>
      <p:sp>
        <p:nvSpPr>
          <p:cNvPr id="4" name="TextBox 4"/>
          <p:cNvSpPr txBox="1"/>
          <p:nvPr/>
        </p:nvSpPr>
        <p:spPr>
          <a:xfrm>
            <a:off x="2329314" y="2505176"/>
            <a:ext cx="11006489" cy="620108"/>
          </a:xfrm>
          <a:prstGeom prst="rect">
            <a:avLst/>
          </a:prstGeom>
        </p:spPr>
        <p:txBody>
          <a:bodyPr lIns="0" tIns="0" rIns="0" bIns="0" rtlCol="0" anchor="t">
            <a:spAutoFit/>
          </a:bodyPr>
          <a:lstStyle/>
          <a:p>
            <a:pPr algn="l">
              <a:lnSpc>
                <a:spcPts val="4320"/>
              </a:lnSpc>
            </a:pPr>
            <a:r>
              <a:rPr lang="en-US" sz="3600">
                <a:solidFill>
                  <a:srgbClr val="000000"/>
                </a:solidFill>
                <a:latin typeface="Trebuchet MS"/>
                <a:ea typeface="Trebuchet MS"/>
                <a:cs typeface="Trebuchet MS"/>
                <a:sym typeface="Trebuchet MS"/>
              </a:rPr>
              <a:t>There is no missing values in the dataset.</a:t>
            </a:r>
          </a:p>
        </p:txBody>
      </p:sp>
      <p:sp>
        <p:nvSpPr>
          <p:cNvPr id="5" name="TextBox 5"/>
          <p:cNvSpPr txBox="1"/>
          <p:nvPr/>
        </p:nvSpPr>
        <p:spPr>
          <a:xfrm>
            <a:off x="2481714" y="2657576"/>
            <a:ext cx="11006489" cy="620108"/>
          </a:xfrm>
          <a:prstGeom prst="rect">
            <a:avLst/>
          </a:prstGeom>
        </p:spPr>
        <p:txBody>
          <a:bodyPr lIns="0" tIns="0" rIns="0" bIns="0" rtlCol="0" anchor="t">
            <a:spAutoFit/>
          </a:bodyPr>
          <a:lstStyle/>
          <a:p>
            <a:pPr algn="l">
              <a:lnSpc>
                <a:spcPts val="4320"/>
              </a:lnSpc>
            </a:pPr>
            <a:r>
              <a:rPr lang="en-US" sz="3600">
                <a:solidFill>
                  <a:srgbClr val="000000"/>
                </a:solidFill>
                <a:latin typeface="Trebuchet MS"/>
                <a:ea typeface="Trebuchet MS"/>
                <a:cs typeface="Trebuchet MS"/>
                <a:sym typeface="Trebuchet MS"/>
              </a:rPr>
              <a:t>There is no missing values in the dataset.</a:t>
            </a:r>
          </a:p>
        </p:txBody>
      </p:sp>
      <p:sp>
        <p:nvSpPr>
          <p:cNvPr id="6" name="TextBox 6"/>
          <p:cNvSpPr txBox="1"/>
          <p:nvPr/>
        </p:nvSpPr>
        <p:spPr>
          <a:xfrm>
            <a:off x="2992785" y="1954740"/>
            <a:ext cx="11006489" cy="571500"/>
          </a:xfrm>
          <a:prstGeom prst="rect">
            <a:avLst/>
          </a:prstGeom>
        </p:spPr>
        <p:txBody>
          <a:bodyPr lIns="0" tIns="0" rIns="0" bIns="0" rtlCol="0" anchor="t">
            <a:spAutoFit/>
          </a:bodyPr>
          <a:lstStyle/>
          <a:p>
            <a:pPr algn="l">
              <a:lnSpc>
                <a:spcPts val="4320"/>
              </a:lnSpc>
            </a:pPr>
            <a:r>
              <a:rPr lang="en-US" sz="3600">
                <a:solidFill>
                  <a:srgbClr val="FFFFFF"/>
                </a:solidFill>
                <a:latin typeface="Times New Roman"/>
                <a:ea typeface="Times New Roman"/>
                <a:cs typeface="Times New Roman"/>
                <a:sym typeface="Times New Roman"/>
              </a:rPr>
              <a:t>There is no missing values in the dataset.</a:t>
            </a:r>
          </a:p>
        </p:txBody>
      </p:sp>
      <p:pic>
        <p:nvPicPr>
          <p:cNvPr id="10" name="Picture 9">
            <a:extLst>
              <a:ext uri="{FF2B5EF4-FFF2-40B4-BE49-F238E27FC236}">
                <a16:creationId xmlns:a16="http://schemas.microsoft.com/office/drawing/2014/main" id="{3B9B94C2-CE4C-4E16-39AD-32B8863835B1}"/>
              </a:ext>
            </a:extLst>
          </p:cNvPr>
          <p:cNvPicPr>
            <a:picLocks noChangeAspect="1"/>
          </p:cNvPicPr>
          <p:nvPr/>
        </p:nvPicPr>
        <p:blipFill>
          <a:blip r:embed="rId4"/>
          <a:stretch>
            <a:fillRect/>
          </a:stretch>
        </p:blipFill>
        <p:spPr>
          <a:xfrm>
            <a:off x="4724400" y="3182153"/>
            <a:ext cx="2743200" cy="57803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2787939" y="180975"/>
            <a:ext cx="12712122" cy="847725"/>
          </a:xfrm>
          <a:prstGeom prst="rect">
            <a:avLst/>
          </a:prstGeom>
        </p:spPr>
        <p:txBody>
          <a:bodyPr lIns="0" tIns="0" rIns="0" bIns="0" rtlCol="0" anchor="t">
            <a:spAutoFit/>
          </a:bodyPr>
          <a:lstStyle/>
          <a:p>
            <a:pPr algn="ctr">
              <a:lnSpc>
                <a:spcPts val="6480"/>
              </a:lnSpc>
            </a:pPr>
            <a:r>
              <a:rPr lang="en-US" sz="5400">
                <a:solidFill>
                  <a:srgbClr val="FFFFFF"/>
                </a:solidFill>
                <a:latin typeface="Times New Roman"/>
                <a:ea typeface="Times New Roman"/>
                <a:cs typeface="Times New Roman"/>
                <a:sym typeface="Times New Roman"/>
              </a:rPr>
              <a:t>OUTLIERS </a:t>
            </a:r>
          </a:p>
        </p:txBody>
      </p:sp>
      <p:sp>
        <p:nvSpPr>
          <p:cNvPr id="4" name="TextBox 4"/>
          <p:cNvSpPr txBox="1"/>
          <p:nvPr/>
        </p:nvSpPr>
        <p:spPr>
          <a:xfrm>
            <a:off x="1107441" y="2014387"/>
            <a:ext cx="12712122" cy="1152525"/>
          </a:xfrm>
          <a:prstGeom prst="rect">
            <a:avLst/>
          </a:prstGeom>
        </p:spPr>
        <p:txBody>
          <a:bodyPr lIns="0" tIns="0" rIns="0" bIns="0" rtlCol="0" anchor="t">
            <a:spAutoFit/>
          </a:bodyPr>
          <a:lstStyle/>
          <a:p>
            <a:pPr marL="669603" lvl="1" indent="-334801" algn="l">
              <a:lnSpc>
                <a:spcPts val="4439"/>
              </a:lnSpc>
              <a:buFont typeface="Arial"/>
              <a:buChar char="•"/>
            </a:pPr>
            <a:r>
              <a:rPr lang="en-US" sz="3699">
                <a:solidFill>
                  <a:srgbClr val="FFFFFF"/>
                </a:solidFill>
                <a:latin typeface="Times New Roman"/>
                <a:ea typeface="Times New Roman"/>
                <a:cs typeface="Times New Roman"/>
                <a:sym typeface="Times New Roman"/>
              </a:rPr>
              <a:t>The column Inches seems to have outliers.</a:t>
            </a:r>
          </a:p>
          <a:p>
            <a:pPr marL="669603" lvl="1" indent="-334801" algn="l">
              <a:lnSpc>
                <a:spcPts val="4439"/>
              </a:lnSpc>
            </a:pPr>
            <a:endParaRPr lang="en-US" sz="3699">
              <a:solidFill>
                <a:srgbClr val="FFFFFF"/>
              </a:solidFill>
              <a:latin typeface="Times New Roman"/>
              <a:ea typeface="Times New Roman"/>
              <a:cs typeface="Times New Roman"/>
              <a:sym typeface="Times New Roman"/>
            </a:endParaRPr>
          </a:p>
        </p:txBody>
      </p:sp>
      <p:pic>
        <p:nvPicPr>
          <p:cNvPr id="8" name="Picture 7">
            <a:extLst>
              <a:ext uri="{FF2B5EF4-FFF2-40B4-BE49-F238E27FC236}">
                <a16:creationId xmlns:a16="http://schemas.microsoft.com/office/drawing/2014/main" id="{A614AE3B-C06A-4FE2-D4A0-ACA464085A60}"/>
              </a:ext>
            </a:extLst>
          </p:cNvPr>
          <p:cNvPicPr>
            <a:picLocks noChangeAspect="1"/>
          </p:cNvPicPr>
          <p:nvPr/>
        </p:nvPicPr>
        <p:blipFill>
          <a:blip r:embed="rId4"/>
          <a:stretch>
            <a:fillRect/>
          </a:stretch>
        </p:blipFill>
        <p:spPr>
          <a:xfrm>
            <a:off x="3870467" y="3142065"/>
            <a:ext cx="6634765" cy="59638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3719086" y="390525"/>
            <a:ext cx="11073330" cy="767715"/>
          </a:xfrm>
          <a:prstGeom prst="rect">
            <a:avLst/>
          </a:prstGeom>
        </p:spPr>
        <p:txBody>
          <a:bodyPr lIns="0" tIns="0" rIns="0" bIns="0" rtlCol="0" anchor="t">
            <a:spAutoFit/>
          </a:bodyPr>
          <a:lstStyle/>
          <a:p>
            <a:pPr algn="ctr">
              <a:lnSpc>
                <a:spcPts val="5760"/>
              </a:lnSpc>
            </a:pPr>
            <a:r>
              <a:rPr lang="en-US" sz="4800" b="1">
                <a:solidFill>
                  <a:srgbClr val="FFFFFF"/>
                </a:solidFill>
                <a:latin typeface="Times New Roman Bold"/>
                <a:ea typeface="Times New Roman Bold"/>
                <a:cs typeface="Times New Roman Bold"/>
                <a:sym typeface="Times New Roman Bold"/>
              </a:rPr>
              <a:t>STATISTICAL   ANALYSIS</a:t>
            </a:r>
          </a:p>
        </p:txBody>
      </p:sp>
      <p:sp>
        <p:nvSpPr>
          <p:cNvPr id="4" name="TextBox 4"/>
          <p:cNvSpPr txBox="1"/>
          <p:nvPr/>
        </p:nvSpPr>
        <p:spPr>
          <a:xfrm>
            <a:off x="2622591" y="3147644"/>
            <a:ext cx="12169825" cy="3105150"/>
          </a:xfrm>
          <a:prstGeom prst="rect">
            <a:avLst/>
          </a:prstGeom>
        </p:spPr>
        <p:txBody>
          <a:bodyPr lIns="0" tIns="0" rIns="0" bIns="0" rtlCol="0" anchor="t">
            <a:spAutoFit/>
          </a:bodyPr>
          <a:lstStyle/>
          <a:p>
            <a:pPr algn="just">
              <a:lnSpc>
                <a:spcPts val="3581"/>
              </a:lnSpc>
              <a:spcBef>
                <a:spcPct val="0"/>
              </a:spcBef>
            </a:pPr>
            <a:r>
              <a:rPr lang="en-US" sz="2984">
                <a:solidFill>
                  <a:srgbClr val="FFFFFF"/>
                </a:solidFill>
                <a:latin typeface="Times New Roman"/>
                <a:ea typeface="Times New Roman"/>
                <a:cs typeface="Times New Roman"/>
                <a:sym typeface="Times New Roman"/>
              </a:rPr>
              <a:t>The statistical analysis of laptop sales data was conducted using key descriptive measures such as mean, median, mode, minimum, maximum, and standard deviation</a:t>
            </a:r>
          </a:p>
          <a:p>
            <a:pPr algn="just">
              <a:lnSpc>
                <a:spcPts val="3581"/>
              </a:lnSpc>
              <a:spcBef>
                <a:spcPct val="0"/>
              </a:spcBef>
            </a:pPr>
            <a:endParaRPr lang="en-US" sz="2984">
              <a:solidFill>
                <a:srgbClr val="FFFFFF"/>
              </a:solidFill>
              <a:latin typeface="Times New Roman"/>
              <a:ea typeface="Times New Roman"/>
              <a:cs typeface="Times New Roman"/>
              <a:sym typeface="Times New Roman"/>
            </a:endParaRPr>
          </a:p>
          <a:p>
            <a:pPr algn="just">
              <a:lnSpc>
                <a:spcPts val="3221"/>
              </a:lnSpc>
              <a:spcBef>
                <a:spcPct val="0"/>
              </a:spcBef>
            </a:pPr>
            <a:endParaRPr lang="en-US" sz="2984">
              <a:solidFill>
                <a:srgbClr val="FFFFFF"/>
              </a:solidFill>
              <a:latin typeface="Times New Roman"/>
              <a:ea typeface="Times New Roman"/>
              <a:cs typeface="Times New Roman"/>
              <a:sym typeface="Times New Roman"/>
            </a:endParaRPr>
          </a:p>
          <a:p>
            <a:pPr algn="just">
              <a:lnSpc>
                <a:spcPts val="3581"/>
              </a:lnSpc>
              <a:spcBef>
                <a:spcPct val="0"/>
              </a:spcBef>
            </a:pPr>
            <a:r>
              <a:rPr lang="en-US" sz="2984">
                <a:solidFill>
                  <a:srgbClr val="FFFFFF"/>
                </a:solidFill>
                <a:latin typeface="Times New Roman"/>
                <a:ea typeface="Times New Roman"/>
                <a:cs typeface="Times New Roman"/>
                <a:sym typeface="Times New Roman"/>
              </a:rPr>
              <a:t>Overall, the statistical results provide a clear numerical summary of sales performance and market trends.</a:t>
            </a:r>
          </a:p>
        </p:txBody>
      </p:sp>
      <p:sp>
        <p:nvSpPr>
          <p:cNvPr id="5" name="TextBox 5"/>
          <p:cNvSpPr txBox="1"/>
          <p:nvPr/>
        </p:nvSpPr>
        <p:spPr>
          <a:xfrm>
            <a:off x="16430155" y="1129665"/>
            <a:ext cx="1325880" cy="771525"/>
          </a:xfrm>
          <a:prstGeom prst="rect">
            <a:avLst/>
          </a:prstGeom>
        </p:spPr>
        <p:txBody>
          <a:bodyPr lIns="0" tIns="0" rIns="0" bIns="0" rtlCol="0" anchor="t">
            <a:spAutoFit/>
          </a:bodyPr>
          <a:lstStyle/>
          <a:p>
            <a:pPr algn="ctr">
              <a:lnSpc>
                <a:spcPts val="5880"/>
              </a:lnSpc>
              <a:spcBef>
                <a:spcPct val="0"/>
              </a:spcBef>
            </a:pPr>
            <a:r>
              <a:rPr lang="en-US" sz="4900">
                <a:solidFill>
                  <a:srgbClr val="000000"/>
                </a:solidFill>
                <a:latin typeface="Times New Roman"/>
                <a:ea typeface="Times New Roman"/>
                <a:cs typeface="Times New Roman"/>
                <a:sym typeface="Times New Roman"/>
              </a:rPr>
              <a:t>AAA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3006153" y="257175"/>
            <a:ext cx="12275694" cy="771525"/>
          </a:xfrm>
          <a:prstGeom prst="rect">
            <a:avLst/>
          </a:prstGeom>
        </p:spPr>
        <p:txBody>
          <a:bodyPr lIns="0" tIns="0" rIns="0" bIns="0" rtlCol="0" anchor="t">
            <a:spAutoFit/>
          </a:bodyPr>
          <a:lstStyle/>
          <a:p>
            <a:pPr algn="ctr">
              <a:lnSpc>
                <a:spcPts val="5880"/>
              </a:lnSpc>
            </a:pPr>
            <a:r>
              <a:rPr lang="en-US" sz="4900">
                <a:solidFill>
                  <a:srgbClr val="FFFFFF"/>
                </a:solidFill>
                <a:latin typeface="Times New Roman"/>
                <a:ea typeface="Times New Roman"/>
                <a:cs typeface="Times New Roman"/>
                <a:sym typeface="Times New Roman"/>
              </a:rPr>
              <a:t>DESCRIPTIVE ANALYSIS</a:t>
            </a:r>
          </a:p>
        </p:txBody>
      </p:sp>
      <p:grpSp>
        <p:nvGrpSpPr>
          <p:cNvPr id="4" name="Group 4"/>
          <p:cNvGrpSpPr>
            <a:grpSpLocks noChangeAspect="1"/>
          </p:cNvGrpSpPr>
          <p:nvPr/>
        </p:nvGrpSpPr>
        <p:grpSpPr>
          <a:xfrm>
            <a:off x="2797424" y="2648612"/>
            <a:ext cx="12458574" cy="5582654"/>
            <a:chOff x="0" y="0"/>
            <a:chExt cx="16611432" cy="7443538"/>
          </a:xfrm>
        </p:grpSpPr>
        <p:sp>
          <p:nvSpPr>
            <p:cNvPr id="5" name="Freeform 5"/>
            <p:cNvSpPr/>
            <p:nvPr/>
          </p:nvSpPr>
          <p:spPr>
            <a:xfrm>
              <a:off x="0" y="0"/>
              <a:ext cx="16611473" cy="7443597"/>
            </a:xfrm>
            <a:custGeom>
              <a:avLst/>
              <a:gdLst/>
              <a:ahLst/>
              <a:cxnLst/>
              <a:rect l="l" t="t" r="r" b="b"/>
              <a:pathLst>
                <a:path w="16611473" h="7443597">
                  <a:moveTo>
                    <a:pt x="0" y="0"/>
                  </a:moveTo>
                  <a:lnTo>
                    <a:pt x="16611473" y="0"/>
                  </a:lnTo>
                  <a:lnTo>
                    <a:pt x="16611473" y="7443597"/>
                  </a:lnTo>
                  <a:lnTo>
                    <a:pt x="0" y="7443597"/>
                  </a:lnTo>
                  <a:lnTo>
                    <a:pt x="0" y="0"/>
                  </a:lnTo>
                  <a:close/>
                </a:path>
              </a:pathLst>
            </a:custGeom>
            <a:blipFill>
              <a:blip r:embed="rId4"/>
              <a:stretch>
                <a:fillRect l="-7377" r="-7377"/>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3951284" y="257175"/>
            <a:ext cx="11073330" cy="771525"/>
          </a:xfrm>
          <a:prstGeom prst="rect">
            <a:avLst/>
          </a:prstGeom>
        </p:spPr>
        <p:txBody>
          <a:bodyPr lIns="0" tIns="0" rIns="0" bIns="0" rtlCol="0" anchor="t">
            <a:spAutoFit/>
          </a:bodyPr>
          <a:lstStyle/>
          <a:p>
            <a:pPr algn="ctr">
              <a:lnSpc>
                <a:spcPts val="5880"/>
              </a:lnSpc>
            </a:pPr>
            <a:r>
              <a:rPr lang="en-US" sz="4900">
                <a:solidFill>
                  <a:srgbClr val="FFFFFF"/>
                </a:solidFill>
                <a:latin typeface="Times New Roman"/>
                <a:ea typeface="Times New Roman"/>
                <a:cs typeface="Times New Roman"/>
                <a:sym typeface="Times New Roman"/>
              </a:rPr>
              <a:t>TYPE OF USING STATISTICAL TESTS.</a:t>
            </a:r>
          </a:p>
        </p:txBody>
      </p:sp>
      <p:sp>
        <p:nvSpPr>
          <p:cNvPr id="4" name="TextBox 4"/>
          <p:cNvSpPr txBox="1"/>
          <p:nvPr/>
        </p:nvSpPr>
        <p:spPr>
          <a:xfrm>
            <a:off x="1636025" y="2493977"/>
            <a:ext cx="12900808" cy="4249058"/>
          </a:xfrm>
          <a:prstGeom prst="rect">
            <a:avLst/>
          </a:prstGeom>
        </p:spPr>
        <p:txBody>
          <a:bodyPr lIns="0" tIns="0" rIns="0" bIns="0" rtlCol="0" anchor="t">
            <a:spAutoFit/>
          </a:bodyPr>
          <a:lstStyle/>
          <a:p>
            <a:pPr marL="550984" lvl="1" indent="-275492" algn="l">
              <a:lnSpc>
                <a:spcPts val="3653"/>
              </a:lnSpc>
              <a:buFont typeface="Arial"/>
              <a:buChar char="•"/>
            </a:pPr>
            <a:r>
              <a:rPr lang="en-US" sz="3044" b="1">
                <a:solidFill>
                  <a:srgbClr val="FFFFFF"/>
                </a:solidFill>
                <a:latin typeface="Times New Roman Bold"/>
                <a:ea typeface="Times New Roman Bold"/>
                <a:cs typeface="Times New Roman Bold"/>
                <a:sym typeface="Times New Roman Bold"/>
              </a:rPr>
              <a:t>One Sample T-test</a:t>
            </a:r>
          </a:p>
          <a:p>
            <a:pPr marL="550984" lvl="1" indent="-275492" algn="l">
              <a:lnSpc>
                <a:spcPts val="3653"/>
              </a:lnSpc>
              <a:buFont typeface="Arial"/>
              <a:buChar char="•"/>
            </a:pPr>
            <a:r>
              <a:rPr lang="en-US" sz="3044" b="1">
                <a:solidFill>
                  <a:srgbClr val="FFFFFF"/>
                </a:solidFill>
                <a:latin typeface="Times New Roman Bold"/>
                <a:ea typeface="Times New Roman Bold"/>
                <a:cs typeface="Times New Roman Bold"/>
                <a:sym typeface="Times New Roman Bold"/>
              </a:rPr>
              <a:t>Laptop price differ from the population mean of 70,000.</a:t>
            </a:r>
          </a:p>
          <a:p>
            <a:pPr marL="550984" lvl="1" indent="-275492" algn="l">
              <a:lnSpc>
                <a:spcPts val="3653"/>
              </a:lnSpc>
            </a:pPr>
            <a:endParaRPr lang="en-US" sz="3044" b="1">
              <a:solidFill>
                <a:srgbClr val="FFFFFF"/>
              </a:solidFill>
              <a:latin typeface="Times New Roman Bold"/>
              <a:ea typeface="Times New Roman Bold"/>
              <a:cs typeface="Times New Roman Bold"/>
              <a:sym typeface="Times New Roman Bold"/>
            </a:endParaRPr>
          </a:p>
          <a:p>
            <a:pPr marL="550984" lvl="1" indent="-275492" algn="l">
              <a:lnSpc>
                <a:spcPts val="3653"/>
              </a:lnSpc>
              <a:buFont typeface="Arial"/>
              <a:buChar char="•"/>
            </a:pPr>
            <a:r>
              <a:rPr lang="en-US" sz="3044" b="1">
                <a:solidFill>
                  <a:srgbClr val="FFFFFF"/>
                </a:solidFill>
                <a:latin typeface="Times New Roman Bold"/>
                <a:ea typeface="Times New Roman Bold"/>
                <a:cs typeface="Times New Roman Bold"/>
                <a:sym typeface="Times New Roman Bold"/>
              </a:rPr>
              <a:t>Chi – Square Test</a:t>
            </a:r>
          </a:p>
          <a:p>
            <a:pPr marL="550984" lvl="1" indent="-275492" algn="l">
              <a:lnSpc>
                <a:spcPts val="3653"/>
              </a:lnSpc>
              <a:buFont typeface="Arial"/>
              <a:buChar char="•"/>
            </a:pPr>
            <a:r>
              <a:rPr lang="en-US" sz="3044" b="1">
                <a:solidFill>
                  <a:srgbClr val="FFFFFF"/>
                </a:solidFill>
                <a:latin typeface="Times New Roman Bold"/>
                <a:ea typeface="Times New Roman Bold"/>
                <a:cs typeface="Times New Roman Bold"/>
                <a:sym typeface="Times New Roman Bold"/>
              </a:rPr>
              <a:t>Independence between Laptop company and Laptop type name. </a:t>
            </a:r>
          </a:p>
          <a:p>
            <a:pPr marL="550984" lvl="1" indent="-275492" algn="l">
              <a:lnSpc>
                <a:spcPts val="3653"/>
              </a:lnSpc>
            </a:pPr>
            <a:endParaRPr lang="en-US" sz="3044" b="1">
              <a:solidFill>
                <a:srgbClr val="FFFFFF"/>
              </a:solidFill>
              <a:latin typeface="Times New Roman Bold"/>
              <a:ea typeface="Times New Roman Bold"/>
              <a:cs typeface="Times New Roman Bold"/>
              <a:sym typeface="Times New Roman Bold"/>
            </a:endParaRPr>
          </a:p>
          <a:p>
            <a:pPr marL="550984" lvl="1" indent="-275492" algn="l">
              <a:lnSpc>
                <a:spcPts val="3653"/>
              </a:lnSpc>
              <a:buFont typeface="Arial"/>
              <a:buChar char="•"/>
            </a:pPr>
            <a:r>
              <a:rPr lang="en-US" sz="3044" b="1">
                <a:solidFill>
                  <a:srgbClr val="FFFFFF"/>
                </a:solidFill>
                <a:latin typeface="Times New Roman Bold"/>
                <a:ea typeface="Times New Roman Bold"/>
                <a:cs typeface="Times New Roman Bold"/>
                <a:sym typeface="Times New Roman Bold"/>
              </a:rPr>
              <a:t>Two Sample Z – Test</a:t>
            </a:r>
          </a:p>
          <a:p>
            <a:pPr marL="550984" lvl="1" indent="-275492" algn="l">
              <a:lnSpc>
                <a:spcPts val="3653"/>
              </a:lnSpc>
              <a:buFont typeface="Arial"/>
              <a:buChar char="•"/>
            </a:pPr>
            <a:r>
              <a:rPr lang="en-US" sz="3044" b="1">
                <a:solidFill>
                  <a:srgbClr val="FFFFFF"/>
                </a:solidFill>
                <a:latin typeface="Times New Roman Bold"/>
                <a:ea typeface="Times New Roman Bold"/>
                <a:cs typeface="Times New Roman Bold"/>
                <a:sym typeface="Times New Roman Bold"/>
              </a:rPr>
              <a:t>Test If the Average Laptop price is different between two companies of Dell and HP.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3240327" y="180975"/>
            <a:ext cx="12712122" cy="847725"/>
          </a:xfrm>
          <a:prstGeom prst="rect">
            <a:avLst/>
          </a:prstGeom>
        </p:spPr>
        <p:txBody>
          <a:bodyPr lIns="0" tIns="0" rIns="0" bIns="0" rtlCol="0" anchor="t">
            <a:spAutoFit/>
          </a:bodyPr>
          <a:lstStyle/>
          <a:p>
            <a:pPr algn="ctr">
              <a:lnSpc>
                <a:spcPts val="6480"/>
              </a:lnSpc>
            </a:pPr>
            <a:r>
              <a:rPr lang="en-US" sz="5400">
                <a:solidFill>
                  <a:srgbClr val="FFFFFF"/>
                </a:solidFill>
                <a:latin typeface="Times New Roman"/>
                <a:ea typeface="Times New Roman"/>
                <a:cs typeface="Times New Roman"/>
                <a:sym typeface="Times New Roman"/>
              </a:rPr>
              <a:t>DATA VISUALIZATION</a:t>
            </a:r>
          </a:p>
        </p:txBody>
      </p:sp>
      <p:sp>
        <p:nvSpPr>
          <p:cNvPr id="4" name="TextBox 4"/>
          <p:cNvSpPr txBox="1"/>
          <p:nvPr/>
        </p:nvSpPr>
        <p:spPr>
          <a:xfrm>
            <a:off x="1107441" y="1759219"/>
            <a:ext cx="12712122" cy="1231106"/>
          </a:xfrm>
          <a:prstGeom prst="rect">
            <a:avLst/>
          </a:prstGeom>
        </p:spPr>
        <p:txBody>
          <a:bodyPr lIns="0" tIns="0" rIns="0" bIns="0" rtlCol="0" anchor="t">
            <a:spAutoFit/>
          </a:bodyPr>
          <a:lstStyle/>
          <a:p>
            <a:pPr marL="488632" lvl="1" indent="-244316" algn="l">
              <a:lnSpc>
                <a:spcPts val="3240"/>
              </a:lnSpc>
              <a:buFont typeface="Arial"/>
              <a:buChar char="•"/>
            </a:pPr>
            <a:r>
              <a:rPr lang="en-US" sz="2700" dirty="0">
                <a:solidFill>
                  <a:srgbClr val="FFFFFF"/>
                </a:solidFill>
                <a:latin typeface="Times New Roman"/>
                <a:ea typeface="Times New Roman"/>
                <a:cs typeface="Times New Roman"/>
                <a:sym typeface="Times New Roman"/>
              </a:rPr>
              <a:t>Data visualization was used to represent laptop sales data in a clear and meaningful way using charts and graphs such as pie chart, bar charts etc..</a:t>
            </a:r>
          </a:p>
          <a:p>
            <a:pPr marL="488632" lvl="1" indent="-244316" algn="l">
              <a:lnSpc>
                <a:spcPts val="3240"/>
              </a:lnSpc>
              <a:buFont typeface="Arial"/>
              <a:buChar char="•"/>
            </a:pPr>
            <a:endParaRPr lang="en-US" sz="2700" dirty="0">
              <a:solidFill>
                <a:srgbClr val="FFFFFF"/>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2937156" y="423291"/>
            <a:ext cx="12712122" cy="800100"/>
          </a:xfrm>
          <a:prstGeom prst="rect">
            <a:avLst/>
          </a:prstGeom>
        </p:spPr>
        <p:txBody>
          <a:bodyPr lIns="0" tIns="0" rIns="0" bIns="0" rtlCol="0" anchor="t">
            <a:spAutoFit/>
          </a:bodyPr>
          <a:lstStyle/>
          <a:p>
            <a:pPr algn="ctr">
              <a:lnSpc>
                <a:spcPts val="6120"/>
              </a:lnSpc>
            </a:pPr>
            <a:r>
              <a:rPr lang="en-US" sz="5100">
                <a:solidFill>
                  <a:srgbClr val="FFFFFF"/>
                </a:solidFill>
                <a:latin typeface="Times New Roman"/>
                <a:ea typeface="Times New Roman"/>
                <a:cs typeface="Times New Roman"/>
                <a:sym typeface="Times New Roman"/>
              </a:rPr>
              <a:t>UNIVARIATE ANALYSIS</a:t>
            </a:r>
          </a:p>
        </p:txBody>
      </p:sp>
      <p:sp>
        <p:nvSpPr>
          <p:cNvPr id="4" name="TextBox 4"/>
          <p:cNvSpPr txBox="1"/>
          <p:nvPr/>
        </p:nvSpPr>
        <p:spPr>
          <a:xfrm>
            <a:off x="1703670" y="2712219"/>
            <a:ext cx="12115892" cy="3686175"/>
          </a:xfrm>
          <a:prstGeom prst="rect">
            <a:avLst/>
          </a:prstGeom>
        </p:spPr>
        <p:txBody>
          <a:bodyPr lIns="0" tIns="0" rIns="0" bIns="0" rtlCol="0" anchor="t">
            <a:spAutoFit/>
          </a:bodyPr>
          <a:lstStyle/>
          <a:p>
            <a:pPr marL="542925" lvl="1" indent="-271462" algn="l">
              <a:lnSpc>
                <a:spcPts val="3600"/>
              </a:lnSpc>
              <a:buFont typeface="Arial"/>
              <a:buChar char="•"/>
            </a:pPr>
            <a:r>
              <a:rPr lang="en-US" sz="3000">
                <a:solidFill>
                  <a:srgbClr val="FFFFFF"/>
                </a:solidFill>
                <a:latin typeface="Times New Roman"/>
                <a:ea typeface="Times New Roman"/>
                <a:cs typeface="Times New Roman"/>
                <a:sym typeface="Times New Roman"/>
              </a:rPr>
              <a:t>By using Histogram plot shows the spread of price</a:t>
            </a:r>
          </a:p>
          <a:p>
            <a:pPr marL="542925" lvl="1" indent="-271462" algn="l">
              <a:lnSpc>
                <a:spcPts val="3600"/>
              </a:lnSpc>
              <a:buFont typeface="Arial"/>
              <a:buChar char="•"/>
            </a:pPr>
            <a:r>
              <a:rPr lang="en-US" sz="3000">
                <a:solidFill>
                  <a:srgbClr val="FFFFFF"/>
                </a:solidFill>
                <a:latin typeface="Times New Roman"/>
                <a:ea typeface="Times New Roman"/>
                <a:cs typeface="Times New Roman"/>
                <a:sym typeface="Times New Roman"/>
              </a:rPr>
              <a:t>High sailed Laptops are between 0 to 1 lakh.</a:t>
            </a:r>
          </a:p>
          <a:p>
            <a:pPr marL="542925" lvl="1" indent="-271462" algn="l">
              <a:lnSpc>
                <a:spcPts val="3600"/>
              </a:lnSpc>
              <a:buFont typeface="Arial"/>
              <a:buChar char="•"/>
            </a:pPr>
            <a:r>
              <a:rPr lang="en-US" sz="3000">
                <a:solidFill>
                  <a:srgbClr val="FFFFFF"/>
                </a:solidFill>
                <a:latin typeface="Times New Roman"/>
                <a:ea typeface="Times New Roman"/>
                <a:cs typeface="Times New Roman"/>
                <a:sym typeface="Times New Roman"/>
              </a:rPr>
              <a:t>Low sailed laptops are between 2 lakhs to 3 lakhs .</a:t>
            </a:r>
          </a:p>
          <a:p>
            <a:pPr marL="542925" lvl="1" indent="-271462" algn="l">
              <a:lnSpc>
                <a:spcPts val="3600"/>
              </a:lnSpc>
            </a:pPr>
            <a:endParaRPr lang="en-US" sz="3000">
              <a:solidFill>
                <a:srgbClr val="FFFFFF"/>
              </a:solidFill>
              <a:latin typeface="Times New Roman"/>
              <a:ea typeface="Times New Roman"/>
              <a:cs typeface="Times New Roman"/>
              <a:sym typeface="Times New Roman"/>
            </a:endParaRPr>
          </a:p>
          <a:p>
            <a:pPr marL="542925" lvl="1" indent="-271462" algn="l">
              <a:lnSpc>
                <a:spcPts val="3600"/>
              </a:lnSpc>
            </a:pPr>
            <a:endParaRPr lang="en-US" sz="3000">
              <a:solidFill>
                <a:srgbClr val="FFFFFF"/>
              </a:solidFill>
              <a:latin typeface="Times New Roman"/>
              <a:ea typeface="Times New Roman"/>
              <a:cs typeface="Times New Roman"/>
              <a:sym typeface="Times New Roman"/>
            </a:endParaRPr>
          </a:p>
          <a:p>
            <a:pPr marL="542925" lvl="1" indent="-271462" algn="l">
              <a:lnSpc>
                <a:spcPts val="3600"/>
              </a:lnSpc>
              <a:buFont typeface="Arial"/>
              <a:buChar char="•"/>
            </a:pPr>
            <a:r>
              <a:rPr lang="en-US" sz="3000">
                <a:solidFill>
                  <a:srgbClr val="FFFFFF"/>
                </a:solidFill>
                <a:latin typeface="Times New Roman"/>
                <a:ea typeface="Times New Roman"/>
                <a:cs typeface="Times New Roman"/>
                <a:sym typeface="Times New Roman"/>
              </a:rPr>
              <a:t>By using count plot.</a:t>
            </a:r>
          </a:p>
          <a:p>
            <a:pPr marL="542925" lvl="1" indent="-271462" algn="l">
              <a:lnSpc>
                <a:spcPts val="3600"/>
              </a:lnSpc>
              <a:buFont typeface="Arial"/>
              <a:buChar char="•"/>
            </a:pPr>
            <a:r>
              <a:rPr lang="en-US" sz="3000">
                <a:solidFill>
                  <a:srgbClr val="FFFFFF"/>
                </a:solidFill>
                <a:latin typeface="Times New Roman"/>
                <a:ea typeface="Times New Roman"/>
                <a:cs typeface="Times New Roman"/>
                <a:sym typeface="Times New Roman"/>
              </a:rPr>
              <a:t>Lenovo, Dell and HP is highly sailed laptops.</a:t>
            </a:r>
          </a:p>
          <a:p>
            <a:pPr marL="542925" lvl="1" indent="-271462" algn="l">
              <a:lnSpc>
                <a:spcPts val="3600"/>
              </a:lnSpc>
              <a:buFont typeface="Arial"/>
              <a:buChar char="•"/>
            </a:pPr>
            <a:r>
              <a:rPr lang="en-US" sz="3000">
                <a:solidFill>
                  <a:srgbClr val="FFFFFF"/>
                </a:solidFill>
                <a:latin typeface="Times New Roman"/>
                <a:ea typeface="Times New Roman"/>
                <a:cs typeface="Times New Roman"/>
                <a:sym typeface="Times New Roman"/>
              </a:rPr>
              <a:t>Lowest sailed laptop is Apple. </a:t>
            </a:r>
          </a:p>
        </p:txBody>
      </p:sp>
      <p:pic>
        <p:nvPicPr>
          <p:cNvPr id="6" name="Picture 5">
            <a:extLst>
              <a:ext uri="{FF2B5EF4-FFF2-40B4-BE49-F238E27FC236}">
                <a16:creationId xmlns:a16="http://schemas.microsoft.com/office/drawing/2014/main" id="{7EC452BF-4E9E-C6E5-A2B4-B2151BCA94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34600" y="3869369"/>
            <a:ext cx="7239000" cy="628593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2787939" y="389909"/>
            <a:ext cx="12712122" cy="819150"/>
          </a:xfrm>
          <a:prstGeom prst="rect">
            <a:avLst/>
          </a:prstGeom>
        </p:spPr>
        <p:txBody>
          <a:bodyPr lIns="0" tIns="0" rIns="0" bIns="0" rtlCol="0" anchor="t">
            <a:spAutoFit/>
          </a:bodyPr>
          <a:lstStyle/>
          <a:p>
            <a:pPr algn="ctr">
              <a:lnSpc>
                <a:spcPts val="6240"/>
              </a:lnSpc>
            </a:pPr>
            <a:r>
              <a:rPr lang="en-US" sz="5200">
                <a:solidFill>
                  <a:srgbClr val="FFFFFF"/>
                </a:solidFill>
                <a:latin typeface="Times New Roman"/>
                <a:ea typeface="Times New Roman"/>
                <a:cs typeface="Times New Roman"/>
                <a:sym typeface="Times New Roman"/>
              </a:rPr>
              <a:t>BIVARIATE ANALYSIS</a:t>
            </a:r>
          </a:p>
        </p:txBody>
      </p:sp>
      <p:sp>
        <p:nvSpPr>
          <p:cNvPr id="4" name="TextBox 4"/>
          <p:cNvSpPr txBox="1"/>
          <p:nvPr/>
        </p:nvSpPr>
        <p:spPr>
          <a:xfrm>
            <a:off x="1758006" y="1827279"/>
            <a:ext cx="12712122" cy="4143375"/>
          </a:xfrm>
          <a:prstGeom prst="rect">
            <a:avLst/>
          </a:prstGeom>
        </p:spPr>
        <p:txBody>
          <a:bodyPr lIns="0" tIns="0" rIns="0" bIns="0" rtlCol="0" anchor="t">
            <a:spAutoFit/>
          </a:bodyPr>
          <a:lstStyle/>
          <a:p>
            <a:pPr marL="542925" lvl="1" indent="-271462" algn="l">
              <a:lnSpc>
                <a:spcPts val="3600"/>
              </a:lnSpc>
              <a:buFont typeface="Arial"/>
              <a:buChar char="•"/>
            </a:pPr>
            <a:r>
              <a:rPr lang="en-US" sz="3000">
                <a:solidFill>
                  <a:srgbClr val="FFFFFF"/>
                </a:solidFill>
                <a:latin typeface="Times New Roman"/>
                <a:ea typeface="Times New Roman"/>
                <a:cs typeface="Times New Roman"/>
                <a:sym typeface="Times New Roman"/>
              </a:rPr>
              <a:t>By using Bar plot , it shows ram wise Price.</a:t>
            </a:r>
          </a:p>
          <a:p>
            <a:pPr marL="542925" lvl="1" indent="-271462" algn="l">
              <a:lnSpc>
                <a:spcPts val="3600"/>
              </a:lnSpc>
              <a:buFont typeface="Arial"/>
              <a:buChar char="•"/>
            </a:pPr>
            <a:r>
              <a:rPr lang="en-US" sz="3000">
                <a:solidFill>
                  <a:srgbClr val="FFFFFF"/>
                </a:solidFill>
                <a:latin typeface="Times New Roman"/>
                <a:ea typeface="Times New Roman"/>
                <a:cs typeface="Times New Roman"/>
                <a:sym typeface="Times New Roman"/>
              </a:rPr>
              <a:t>Highly sailed laptops are 32GB Ram .</a:t>
            </a:r>
          </a:p>
          <a:p>
            <a:pPr marL="542925" lvl="1" indent="-271462" algn="l">
              <a:lnSpc>
                <a:spcPts val="3600"/>
              </a:lnSpc>
              <a:buFont typeface="Arial"/>
              <a:buChar char="•"/>
            </a:pPr>
            <a:r>
              <a:rPr lang="en-US" sz="3000">
                <a:solidFill>
                  <a:srgbClr val="FFFFFF"/>
                </a:solidFill>
                <a:latin typeface="Times New Roman"/>
                <a:ea typeface="Times New Roman"/>
                <a:cs typeface="Times New Roman"/>
                <a:sym typeface="Times New Roman"/>
              </a:rPr>
              <a:t>Lowest sailed laptops are 2GB Ram.</a:t>
            </a:r>
          </a:p>
          <a:p>
            <a:pPr marL="542925" lvl="1" indent="-271462" algn="l">
              <a:lnSpc>
                <a:spcPts val="3600"/>
              </a:lnSpc>
            </a:pPr>
            <a:endParaRPr lang="en-US" sz="3000">
              <a:solidFill>
                <a:srgbClr val="FFFFFF"/>
              </a:solidFill>
              <a:latin typeface="Times New Roman"/>
              <a:ea typeface="Times New Roman"/>
              <a:cs typeface="Times New Roman"/>
              <a:sym typeface="Times New Roman"/>
            </a:endParaRPr>
          </a:p>
          <a:p>
            <a:pPr marL="542925" lvl="1" indent="-271462" algn="l">
              <a:lnSpc>
                <a:spcPts val="3600"/>
              </a:lnSpc>
            </a:pPr>
            <a:endParaRPr lang="en-US" sz="3000">
              <a:solidFill>
                <a:srgbClr val="FFFFFF"/>
              </a:solidFill>
              <a:latin typeface="Times New Roman"/>
              <a:ea typeface="Times New Roman"/>
              <a:cs typeface="Times New Roman"/>
              <a:sym typeface="Times New Roman"/>
            </a:endParaRPr>
          </a:p>
          <a:p>
            <a:pPr marL="542925" lvl="1" indent="-271462" algn="l">
              <a:lnSpc>
                <a:spcPts val="3600"/>
              </a:lnSpc>
            </a:pPr>
            <a:endParaRPr lang="en-US" sz="3000">
              <a:solidFill>
                <a:srgbClr val="FFFFFF"/>
              </a:solidFill>
              <a:latin typeface="Times New Roman"/>
              <a:ea typeface="Times New Roman"/>
              <a:cs typeface="Times New Roman"/>
              <a:sym typeface="Times New Roman"/>
            </a:endParaRPr>
          </a:p>
          <a:p>
            <a:pPr marL="542925" lvl="1" indent="-271462" algn="l">
              <a:lnSpc>
                <a:spcPts val="3600"/>
              </a:lnSpc>
            </a:pPr>
            <a:endParaRPr lang="en-US" sz="3000">
              <a:solidFill>
                <a:srgbClr val="FFFFFF"/>
              </a:solidFill>
              <a:latin typeface="Times New Roman"/>
              <a:ea typeface="Times New Roman"/>
              <a:cs typeface="Times New Roman"/>
              <a:sym typeface="Times New Roman"/>
            </a:endParaRPr>
          </a:p>
          <a:p>
            <a:pPr marL="542925" lvl="1" indent="-271462" algn="l">
              <a:lnSpc>
                <a:spcPts val="3600"/>
              </a:lnSpc>
            </a:pPr>
            <a:endParaRPr lang="en-US" sz="3000">
              <a:solidFill>
                <a:srgbClr val="FFFFFF"/>
              </a:solidFill>
              <a:latin typeface="Times New Roman"/>
              <a:ea typeface="Times New Roman"/>
              <a:cs typeface="Times New Roman"/>
              <a:sym typeface="Times New Roman"/>
            </a:endParaRPr>
          </a:p>
          <a:p>
            <a:pPr marL="542925" lvl="1" indent="-271462" algn="l">
              <a:lnSpc>
                <a:spcPts val="3600"/>
              </a:lnSpc>
            </a:pPr>
            <a:endParaRPr lang="en-US" sz="3000">
              <a:solidFill>
                <a:srgbClr val="FFFFFF"/>
              </a:solidFill>
              <a:latin typeface="Times New Roman"/>
              <a:ea typeface="Times New Roman"/>
              <a:cs typeface="Times New Roman"/>
              <a:sym typeface="Times New Roman"/>
            </a:endParaRPr>
          </a:p>
        </p:txBody>
      </p:sp>
      <p:pic>
        <p:nvPicPr>
          <p:cNvPr id="8" name="Picture 7">
            <a:extLst>
              <a:ext uri="{FF2B5EF4-FFF2-40B4-BE49-F238E27FC236}">
                <a16:creationId xmlns:a16="http://schemas.microsoft.com/office/drawing/2014/main" id="{65617B21-051D-DF23-F60D-CFE1E9FBEC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7600" y="3381987"/>
            <a:ext cx="9906000" cy="64825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2787939" y="382486"/>
            <a:ext cx="12712122" cy="800100"/>
          </a:xfrm>
          <a:prstGeom prst="rect">
            <a:avLst/>
          </a:prstGeom>
        </p:spPr>
        <p:txBody>
          <a:bodyPr lIns="0" tIns="0" rIns="0" bIns="0" rtlCol="0" anchor="t">
            <a:spAutoFit/>
          </a:bodyPr>
          <a:lstStyle/>
          <a:p>
            <a:pPr algn="ctr">
              <a:lnSpc>
                <a:spcPts val="6120"/>
              </a:lnSpc>
            </a:pPr>
            <a:r>
              <a:rPr lang="en-US" sz="5100">
                <a:solidFill>
                  <a:srgbClr val="FFFFFF"/>
                </a:solidFill>
                <a:latin typeface="Times New Roman"/>
                <a:ea typeface="Times New Roman"/>
                <a:cs typeface="Times New Roman"/>
                <a:sym typeface="Times New Roman"/>
              </a:rPr>
              <a:t>MULTIVARIATE ANALYSIS</a:t>
            </a:r>
          </a:p>
        </p:txBody>
      </p:sp>
      <p:sp>
        <p:nvSpPr>
          <p:cNvPr id="4" name="TextBox 4"/>
          <p:cNvSpPr txBox="1"/>
          <p:nvPr/>
        </p:nvSpPr>
        <p:spPr>
          <a:xfrm>
            <a:off x="1107441" y="2264546"/>
            <a:ext cx="12712122" cy="1333500"/>
          </a:xfrm>
          <a:prstGeom prst="rect">
            <a:avLst/>
          </a:prstGeom>
        </p:spPr>
        <p:txBody>
          <a:bodyPr lIns="0" tIns="0" rIns="0" bIns="0" rtlCol="0" anchor="t">
            <a:spAutoFit/>
          </a:bodyPr>
          <a:lstStyle/>
          <a:p>
            <a:pPr marL="524828" lvl="1" indent="-262414" algn="l">
              <a:lnSpc>
                <a:spcPts val="3480"/>
              </a:lnSpc>
              <a:buFont typeface="Arial"/>
              <a:buChar char="•"/>
            </a:pPr>
            <a:r>
              <a:rPr lang="en-US" sz="2900">
                <a:solidFill>
                  <a:srgbClr val="FFFFFF"/>
                </a:solidFill>
                <a:latin typeface="Times New Roman"/>
                <a:ea typeface="Times New Roman"/>
                <a:cs typeface="Times New Roman"/>
                <a:sym typeface="Times New Roman"/>
              </a:rPr>
              <a:t>In this plot other company sailed the most number of gaming laptops in high price.</a:t>
            </a:r>
          </a:p>
          <a:p>
            <a:pPr marL="524828" lvl="1" indent="-262414" algn="l">
              <a:lnSpc>
                <a:spcPts val="3480"/>
              </a:lnSpc>
              <a:buFont typeface="Arial"/>
              <a:buChar char="•"/>
            </a:pPr>
            <a:r>
              <a:rPr lang="en-US" sz="2900">
                <a:solidFill>
                  <a:srgbClr val="FFFFFF"/>
                </a:solidFill>
                <a:latin typeface="Times New Roman"/>
                <a:ea typeface="Times New Roman"/>
                <a:cs typeface="Times New Roman"/>
                <a:sym typeface="Times New Roman"/>
              </a:rPr>
              <a:t>Notebook laptops are sailed very low to compare all companies.</a:t>
            </a:r>
          </a:p>
          <a:p>
            <a:pPr marL="524828" lvl="1" indent="-262414" algn="l">
              <a:lnSpc>
                <a:spcPts val="3480"/>
              </a:lnSpc>
            </a:pPr>
            <a:endParaRPr lang="en-US" sz="2900">
              <a:solidFill>
                <a:srgbClr val="FFFFFF"/>
              </a:solidFill>
              <a:latin typeface="Times New Roman"/>
              <a:ea typeface="Times New Roman"/>
              <a:cs typeface="Times New Roman"/>
              <a:sym typeface="Times New Roman"/>
            </a:endParaRPr>
          </a:p>
        </p:txBody>
      </p:sp>
      <p:pic>
        <p:nvPicPr>
          <p:cNvPr id="8" name="Picture 7">
            <a:extLst>
              <a:ext uri="{FF2B5EF4-FFF2-40B4-BE49-F238E27FC236}">
                <a16:creationId xmlns:a16="http://schemas.microsoft.com/office/drawing/2014/main" id="{FFBD0A58-8F7E-FCE0-C8B3-C939F78E8E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05000" y="3668328"/>
            <a:ext cx="11328474" cy="604125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2787939" y="360876"/>
            <a:ext cx="12712122" cy="819150"/>
          </a:xfrm>
          <a:prstGeom prst="rect">
            <a:avLst/>
          </a:prstGeom>
        </p:spPr>
        <p:txBody>
          <a:bodyPr lIns="0" tIns="0" rIns="0" bIns="0" rtlCol="0" anchor="t">
            <a:spAutoFit/>
          </a:bodyPr>
          <a:lstStyle/>
          <a:p>
            <a:pPr algn="ctr">
              <a:lnSpc>
                <a:spcPts val="6240"/>
              </a:lnSpc>
            </a:pPr>
            <a:r>
              <a:rPr lang="en-US" sz="5200">
                <a:solidFill>
                  <a:srgbClr val="FFFFFF"/>
                </a:solidFill>
                <a:latin typeface="Times New Roman"/>
                <a:ea typeface="Times New Roman"/>
                <a:cs typeface="Times New Roman"/>
                <a:sym typeface="Times New Roman"/>
              </a:rPr>
              <a:t>RECOMMENDATION</a:t>
            </a:r>
          </a:p>
        </p:txBody>
      </p:sp>
      <p:sp>
        <p:nvSpPr>
          <p:cNvPr id="4" name="TextBox 4"/>
          <p:cNvSpPr txBox="1"/>
          <p:nvPr/>
        </p:nvSpPr>
        <p:spPr>
          <a:xfrm>
            <a:off x="1737676" y="2725583"/>
            <a:ext cx="12712122" cy="1857375"/>
          </a:xfrm>
          <a:prstGeom prst="rect">
            <a:avLst/>
          </a:prstGeom>
        </p:spPr>
        <p:txBody>
          <a:bodyPr lIns="0" tIns="0" rIns="0" bIns="0" rtlCol="0" anchor="t">
            <a:spAutoFit/>
          </a:bodyPr>
          <a:lstStyle/>
          <a:p>
            <a:pPr marL="542928" lvl="1" indent="-271464" algn="l">
              <a:lnSpc>
                <a:spcPts val="3600"/>
              </a:lnSpc>
              <a:buFont typeface="Arial"/>
              <a:buChar char="•"/>
            </a:pPr>
            <a:r>
              <a:rPr lang="en-US" sz="3000">
                <a:solidFill>
                  <a:srgbClr val="FFFFFF"/>
                </a:solidFill>
                <a:latin typeface="Times New Roman"/>
                <a:ea typeface="Times New Roman"/>
                <a:cs typeface="Times New Roman"/>
                <a:sym typeface="Times New Roman"/>
              </a:rPr>
              <a:t>Based on the data analysis, gaming laptops, 32 GB RAM laptops, and Windows 10-based laptops are identified as the most sold and highly preferred by customers. It is recommended that manufacturers and sellers focus more on these configurations to maximize sales and customer satisfaction.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5443169" y="-2557831"/>
            <a:ext cx="7401663" cy="18288000"/>
          </a:xfrm>
          <a:custGeom>
            <a:avLst/>
            <a:gdLst/>
            <a:ahLst/>
            <a:cxnLst/>
            <a:rect l="l" t="t" r="r" b="b"/>
            <a:pathLst>
              <a:path w="7401663" h="18288000">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a:stretch>
          </a:blipFill>
        </p:spPr>
      </p:sp>
      <p:sp>
        <p:nvSpPr>
          <p:cNvPr id="3" name="TextBox 3"/>
          <p:cNvSpPr txBox="1"/>
          <p:nvPr/>
        </p:nvSpPr>
        <p:spPr>
          <a:xfrm>
            <a:off x="4866680" y="3553612"/>
            <a:ext cx="8554640" cy="1589888"/>
          </a:xfrm>
          <a:prstGeom prst="rect">
            <a:avLst/>
          </a:prstGeom>
        </p:spPr>
        <p:txBody>
          <a:bodyPr lIns="0" tIns="0" rIns="0" bIns="0" rtlCol="0" anchor="t">
            <a:spAutoFit/>
          </a:bodyPr>
          <a:lstStyle/>
          <a:p>
            <a:pPr algn="ctr">
              <a:lnSpc>
                <a:spcPts val="12281"/>
              </a:lnSpc>
              <a:spcBef>
                <a:spcPct val="0"/>
              </a:spcBef>
            </a:pPr>
            <a:r>
              <a:rPr lang="en-US" sz="10234">
                <a:solidFill>
                  <a:srgbClr val="FFFFFF"/>
                </a:solidFill>
                <a:latin typeface="Times New Roman"/>
                <a:ea typeface="Times New Roman"/>
                <a:cs typeface="Times New Roman"/>
                <a:sym typeface="Times New Rom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465</Words>
  <Application>Microsoft Office PowerPoint</Application>
  <PresentationFormat>Custom</PresentationFormat>
  <Paragraphs>69</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Times New Roman</vt:lpstr>
      <vt:lpstr>Trebuchet MS</vt:lpstr>
      <vt:lpstr>Open Sauce</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LAPTOP SALES DATA ANALYSIS.PPT.pptx</dc:title>
  <dc:creator>Dell</dc:creator>
  <cp:lastModifiedBy>Arunkumar A</cp:lastModifiedBy>
  <cp:revision>3</cp:revision>
  <dcterms:created xsi:type="dcterms:W3CDTF">2006-08-16T00:00:00Z</dcterms:created>
  <dcterms:modified xsi:type="dcterms:W3CDTF">2026-01-16T03:48:47Z</dcterms:modified>
  <dc:identifier>DAG7frmSOt0</dc:identifier>
</cp:coreProperties>
</file>